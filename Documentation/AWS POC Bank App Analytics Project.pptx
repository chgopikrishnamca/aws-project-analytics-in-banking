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74" r:id="rId6"/>
    <p:sldId id="262" r:id="rId7"/>
    <p:sldId id="264" r:id="rId8"/>
    <p:sldId id="275" r:id="rId9"/>
    <p:sldId id="269" r:id="rId10"/>
    <p:sldId id="266" r:id="rId11"/>
    <p:sldId id="270" r:id="rId12"/>
    <p:sldId id="271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45FD8B-A3EF-4804-7FB4-7F87E1C8961E}" v="1" dt="2026-01-28T09:00:26.330"/>
    <p1510:client id="{E45C21AA-1EEE-3225-3666-6B57CD8012BF}" v="1519" dt="2026-01-30T08:05:11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>
        <p:scale>
          <a:sx n="85" d="100"/>
          <a:sy n="85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gopikrishnamca/aws-project-analytics-in-banking/blob/main/README.md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949573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IN" sz="5000" cap="all" dirty="0">
                <a:ea typeface="+mj-lt"/>
                <a:cs typeface="+mj-lt"/>
              </a:rPr>
              <a:t>AWS Capstone mini-PROJECT: </a:t>
            </a:r>
            <a:br>
              <a:rPr lang="en-US" dirty="0"/>
            </a:br>
            <a:r>
              <a:rPr lang="en-IN" sz="5000" cap="all" dirty="0">
                <a:ea typeface="+mj-lt"/>
                <a:cs typeface="+mj-lt"/>
              </a:rPr>
              <a:t>Bank </a:t>
            </a:r>
            <a:r>
              <a:rPr lang="en-IN" sz="5000" cap="all" dirty="0" err="1">
                <a:ea typeface="+mj-lt"/>
                <a:cs typeface="+mj-lt"/>
              </a:rPr>
              <a:t>APPlication</a:t>
            </a:r>
            <a:r>
              <a:rPr lang="en-IN" sz="5000" cap="all" dirty="0">
                <a:ea typeface="+mj-lt"/>
                <a:cs typeface="+mj-lt"/>
              </a:rPr>
              <a:t> &amp; ANALYTICS</a:t>
            </a:r>
            <a:endParaRPr lang="en-US" sz="5000" cap="all" dirty="0">
              <a:ea typeface="+mj-lt"/>
              <a:cs typeface="+mj-lt"/>
            </a:endParaRPr>
          </a:p>
          <a:p>
            <a:pPr algn="l"/>
            <a:endParaRPr lang="en-US" sz="5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2200" cap="all">
                <a:latin typeface="Neue Haas Grotesk Text Pro"/>
              </a:rPr>
              <a:t>GOpikrishna Cherukuri</a:t>
            </a:r>
            <a:endParaRPr lang="en-US" sz="2200"/>
          </a:p>
          <a:p>
            <a:pPr algn="r"/>
            <a:r>
              <a:rPr lang="en-US" sz="2200" cap="all">
                <a:latin typeface="Neue Haas Grotesk Text Pro"/>
              </a:rPr>
              <a:t>8179970</a:t>
            </a:r>
            <a:endParaRPr lang="en-US" sz="22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F5E4C-A762-0030-D9CC-DE5E34599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Agenda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E597B-F69A-DC33-BADE-846B40DA7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dirty="0"/>
              <a:t>Project Details</a:t>
            </a:r>
          </a:p>
          <a:p>
            <a:r>
              <a:rPr lang="en-US" sz="2200" dirty="0"/>
              <a:t>Architecture &amp; </a:t>
            </a:r>
            <a:r>
              <a:rPr lang="en-US" sz="2200" dirty="0">
                <a:ea typeface="+mn-lt"/>
                <a:cs typeface="+mn-lt"/>
              </a:rPr>
              <a:t>Orchestration</a:t>
            </a:r>
            <a:endParaRPr lang="en-IN" sz="1100" b="1" dirty="0">
              <a:ea typeface="+mn-lt"/>
              <a:cs typeface="+mn-lt"/>
            </a:endParaRPr>
          </a:p>
          <a:p>
            <a:r>
              <a:rPr lang="en-US" sz="2200" dirty="0"/>
              <a:t>S3 Bucket Structure</a:t>
            </a:r>
          </a:p>
          <a:p>
            <a:r>
              <a:rPr lang="en-US" sz="2200" dirty="0"/>
              <a:t>Glue Components</a:t>
            </a:r>
          </a:p>
          <a:p>
            <a:r>
              <a:rPr lang="en-US" sz="2200" dirty="0"/>
              <a:t>Business Analytics - SQL Queries</a:t>
            </a:r>
          </a:p>
          <a:p>
            <a:r>
              <a:rPr lang="en-US" sz="2200" err="1"/>
              <a:t>ReadME</a:t>
            </a:r>
            <a:r>
              <a:rPr lang="en-US" sz="2200" dirty="0"/>
              <a:t> Section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0602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90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077DB2-83B8-AD00-83DF-9D4E6BCE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910" y="538614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Project Details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228ED176-C861-8416-6E6C-A93E050EC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252" y="2451864"/>
            <a:ext cx="11479214" cy="365019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  <a:p>
            <a:r>
              <a:rPr lang="en-IN" sz="2200" dirty="0">
                <a:ea typeface="+mn-lt"/>
                <a:cs typeface="+mn-lt"/>
              </a:rPr>
              <a:t>Banking Analytics Lakehouse that processes daily transaction files for banking customers and stores them in Amazon S3 Tables—a purpose-built storage tier for Apache Iceberg that provides high-performance transactional consistency.</a:t>
            </a:r>
            <a:endParaRPr lang="en-US" dirty="0">
              <a:ea typeface="+mn-lt"/>
              <a:cs typeface="+mn-lt"/>
            </a:endParaRPr>
          </a:p>
          <a:p>
            <a:endParaRPr lang="en-IN" sz="2200" dirty="0">
              <a:latin typeface="Aptos"/>
              <a:cs typeface="Segoe UI"/>
            </a:endParaRPr>
          </a:p>
          <a:p>
            <a:r>
              <a:rPr lang="en-IN" sz="2200" dirty="0">
                <a:latin typeface="Aptos"/>
                <a:cs typeface="Segoe UI"/>
              </a:rPr>
              <a:t>We analyse the behaviour of banking customers, bank performance and analytics based on customer transactional data.</a:t>
            </a:r>
          </a:p>
        </p:txBody>
      </p:sp>
    </p:spTree>
    <p:extLst>
      <p:ext uri="{BB962C8B-B14F-4D97-AF65-F5344CB8AC3E}">
        <p14:creationId xmlns:p14="http://schemas.microsoft.com/office/powerpoint/2010/main" val="3365826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43BB3-07FC-2EAB-5A4F-67DC59B7F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21885-66C4-FC71-E8DA-29554FCDA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C2E3205-3920-AF04-C8CE-5BA742EEF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480534-F338-CA02-C282-834EADD3C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79" y="789272"/>
            <a:ext cx="9947550" cy="678261"/>
          </a:xfrm>
        </p:spPr>
        <p:txBody>
          <a:bodyPr>
            <a:normAutofit/>
          </a:bodyPr>
          <a:lstStyle/>
          <a:p>
            <a:r>
              <a:rPr lang="en-US" sz="4000" dirty="0"/>
              <a:t>Project Architecture &amp; Orchestration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0EFC5D-C2A6-F1B3-B6EF-F99781888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257262B3-028E-710F-63FB-EFE941283119}"/>
              </a:ext>
            </a:extLst>
          </p:cNvPr>
          <p:cNvSpPr txBox="1">
            <a:spLocks/>
          </p:cNvSpPr>
          <p:nvPr/>
        </p:nvSpPr>
        <p:spPr>
          <a:xfrm>
            <a:off x="368431" y="2494802"/>
            <a:ext cx="10960206" cy="4176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20B0604020202020204" pitchFamily="34" charset="0"/>
              <a:buChar char="§"/>
            </a:pPr>
            <a:endParaRPr lang="en-IN">
              <a:latin typeface="Segoe UI"/>
              <a:cs typeface="Segoe UI"/>
            </a:endParaRPr>
          </a:p>
          <a:p>
            <a:pPr algn="just">
              <a:buFont typeface="Wingdings" panose="020B0604020202020204" pitchFamily="34" charset="0"/>
              <a:buChar char="§"/>
            </a:pPr>
            <a:endParaRPr lang="en-US" dirty="0">
              <a:latin typeface="Segoe UI"/>
              <a:cs typeface="Segoe UI"/>
            </a:endParaRPr>
          </a:p>
        </p:txBody>
      </p:sp>
      <p:pic>
        <p:nvPicPr>
          <p:cNvPr id="41" name="Picture 40" descr="A group of orange cubes&#10;&#10;AI-generated content may be incorrect.">
            <a:extLst>
              <a:ext uri="{FF2B5EF4-FFF2-40B4-BE49-F238E27FC236}">
                <a16:creationId xmlns:a16="http://schemas.microsoft.com/office/drawing/2014/main" id="{5748BB77-1FED-6763-6260-B3629DDF4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464" y="3326368"/>
            <a:ext cx="860579" cy="7090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2" name="Arrow: Right 41">
            <a:extLst>
              <a:ext uri="{FF2B5EF4-FFF2-40B4-BE49-F238E27FC236}">
                <a16:creationId xmlns:a16="http://schemas.microsoft.com/office/drawing/2014/main" id="{83D19BA4-0864-0D65-6689-EAD361FFE5FA}"/>
              </a:ext>
            </a:extLst>
          </p:cNvPr>
          <p:cNvSpPr/>
          <p:nvPr/>
        </p:nvSpPr>
        <p:spPr>
          <a:xfrm>
            <a:off x="2310979" y="3719332"/>
            <a:ext cx="646636" cy="84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E7ECA848-C50D-C8B6-8752-FD2E05FA4985}"/>
              </a:ext>
            </a:extLst>
          </p:cNvPr>
          <p:cNvSpPr/>
          <p:nvPr/>
        </p:nvSpPr>
        <p:spPr>
          <a:xfrm>
            <a:off x="4319523" y="3673266"/>
            <a:ext cx="809967" cy="627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 purple and white icon with white text&#10;&#10;AI-generated content may be incorrect.">
            <a:extLst>
              <a:ext uri="{FF2B5EF4-FFF2-40B4-BE49-F238E27FC236}">
                <a16:creationId xmlns:a16="http://schemas.microsoft.com/office/drawing/2014/main" id="{DF73FDA7-419D-BF00-9541-FF7A43320A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3" t="35" b="23429"/>
          <a:stretch>
            <a:fillRect/>
          </a:stretch>
        </p:blipFill>
        <p:spPr>
          <a:xfrm>
            <a:off x="5461092" y="3312309"/>
            <a:ext cx="663617" cy="724397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14DD239-E398-47ED-E2FC-D6469F97E0B9}"/>
              </a:ext>
            </a:extLst>
          </p:cNvPr>
          <p:cNvSpPr txBox="1"/>
          <p:nvPr/>
        </p:nvSpPr>
        <p:spPr>
          <a:xfrm>
            <a:off x="2037762" y="3359372"/>
            <a:ext cx="1517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 generate data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2D1298-BA8D-7451-1D55-C312BB969095}"/>
              </a:ext>
            </a:extLst>
          </p:cNvPr>
          <p:cNvSpPr txBox="1"/>
          <p:nvPr/>
        </p:nvSpPr>
        <p:spPr>
          <a:xfrm>
            <a:off x="569085" y="4192686"/>
            <a:ext cx="2288148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dirty="0">
                <a:latin typeface="Calibri"/>
                <a:ea typeface="Calibri"/>
                <a:cs typeface="Calibri"/>
              </a:rPr>
              <a:t>Python Program</a:t>
            </a:r>
            <a:br>
              <a:rPr lang="en-US" sz="1050" dirty="0">
                <a:latin typeface="Calibri"/>
                <a:ea typeface="Calibri"/>
                <a:cs typeface="Calibri"/>
              </a:rPr>
            </a:br>
            <a:r>
              <a:rPr lang="en-US" sz="1050" dirty="0">
                <a:latin typeface="Calibri"/>
                <a:ea typeface="Calibri"/>
                <a:cs typeface="Calibri"/>
              </a:rPr>
              <a:t>Data Source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F5BCD5-C864-8CE0-DD2E-03D013511AE2}"/>
              </a:ext>
            </a:extLst>
          </p:cNvPr>
          <p:cNvSpPr txBox="1"/>
          <p:nvPr/>
        </p:nvSpPr>
        <p:spPr>
          <a:xfrm>
            <a:off x="2529702" y="2609304"/>
            <a:ext cx="229817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Calibri"/>
                <a:ea typeface="Calibri"/>
                <a:cs typeface="Calibri"/>
              </a:rPr>
              <a:t>Bank customer data in S3</a:t>
            </a:r>
            <a:br>
              <a:rPr lang="en-US" sz="1400" dirty="0">
                <a:latin typeface="Calibri"/>
                <a:ea typeface="Calibri"/>
                <a:cs typeface="Calibri"/>
              </a:rPr>
            </a:br>
            <a:r>
              <a:rPr lang="en-US" sz="1200" dirty="0">
                <a:latin typeface="Calibri"/>
                <a:ea typeface="Calibri"/>
                <a:cs typeface="Calibri"/>
              </a:rPr>
              <a:t>(</a:t>
            </a:r>
            <a:r>
              <a:rPr lang="en-US" sz="1200" dirty="0">
                <a:latin typeface="Segoe UI"/>
                <a:cs typeface="Segoe UI"/>
              </a:rPr>
              <a:t>s3://bank-app-data-landing-area/raw/</a:t>
            </a:r>
            <a:r>
              <a:rPr lang="en-IN" sz="1100" dirty="0"/>
              <a:t>)</a:t>
            </a:r>
          </a:p>
          <a:p>
            <a:pPr algn="ctr"/>
            <a:endParaRPr lang="en-US" dirty="0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4DC790D3-9A5D-D641-7C4E-53DF9FEE0E17}"/>
              </a:ext>
            </a:extLst>
          </p:cNvPr>
          <p:cNvSpPr/>
          <p:nvPr/>
        </p:nvSpPr>
        <p:spPr>
          <a:xfrm>
            <a:off x="6301300" y="3606031"/>
            <a:ext cx="600727" cy="84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326932-1904-2924-F264-00D8AE2D4174}"/>
              </a:ext>
            </a:extLst>
          </p:cNvPr>
          <p:cNvSpPr txBox="1"/>
          <p:nvPr/>
        </p:nvSpPr>
        <p:spPr>
          <a:xfrm>
            <a:off x="4671155" y="4140144"/>
            <a:ext cx="22881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Calibri"/>
                <a:ea typeface="Calibri"/>
                <a:cs typeface="Calibri"/>
              </a:rPr>
              <a:t>Glue ETL Job</a:t>
            </a:r>
            <a:br>
              <a:rPr lang="en-US" sz="1400" dirty="0">
                <a:latin typeface="Calibri"/>
                <a:ea typeface="Calibri"/>
                <a:cs typeface="Calibri"/>
              </a:rPr>
            </a:br>
            <a:r>
              <a:rPr lang="en-US" sz="1400" dirty="0">
                <a:latin typeface="Calibri"/>
                <a:ea typeface="Calibri"/>
                <a:cs typeface="Calibri"/>
              </a:rPr>
              <a:t>(</a:t>
            </a:r>
            <a:r>
              <a:rPr lang="en-US" sz="1400" dirty="0" err="1">
                <a:ea typeface="+mn-lt"/>
                <a:cs typeface="+mn-lt"/>
              </a:rPr>
              <a:t>ETLBankAppAnalytics</a:t>
            </a:r>
            <a:r>
              <a:rPr lang="da-DK" sz="1200" dirty="0"/>
              <a:t>)</a:t>
            </a:r>
            <a:endParaRPr lang="en-US" dirty="0"/>
          </a:p>
        </p:txBody>
      </p:sp>
      <p:pic>
        <p:nvPicPr>
          <p:cNvPr id="55" name="Picture 54" descr="A white line drawing of a funnel and a circle with circles and dots&#10;&#10;AI-generated content may be incorrect.">
            <a:extLst>
              <a:ext uri="{FF2B5EF4-FFF2-40B4-BE49-F238E27FC236}">
                <a16:creationId xmlns:a16="http://schemas.microsoft.com/office/drawing/2014/main" id="{5575088F-5F34-FF56-D723-7A07A735B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6113" y="2147935"/>
            <a:ext cx="723897" cy="698407"/>
          </a:xfrm>
          <a:prstGeom prst="rect">
            <a:avLst/>
          </a:prstGeom>
        </p:spPr>
      </p:pic>
      <p:sp>
        <p:nvSpPr>
          <p:cNvPr id="57" name="Arrow: Right 56">
            <a:extLst>
              <a:ext uri="{FF2B5EF4-FFF2-40B4-BE49-F238E27FC236}">
                <a16:creationId xmlns:a16="http://schemas.microsoft.com/office/drawing/2014/main" id="{7D0686F1-4879-E7DE-22C7-EA151A5F0891}"/>
              </a:ext>
            </a:extLst>
          </p:cNvPr>
          <p:cNvSpPr/>
          <p:nvPr/>
        </p:nvSpPr>
        <p:spPr>
          <a:xfrm>
            <a:off x="8086043" y="3647340"/>
            <a:ext cx="600727" cy="84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 descr="A purple line drawing of a funnel&#10;&#10;AI-generated content may be incorrect.">
            <a:extLst>
              <a:ext uri="{FF2B5EF4-FFF2-40B4-BE49-F238E27FC236}">
                <a16:creationId xmlns:a16="http://schemas.microsoft.com/office/drawing/2014/main" id="{F36173D6-1ECE-6655-6E79-3AE5B127D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7682" y="3326942"/>
            <a:ext cx="738704" cy="71391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301556C3-65A3-9F6E-3A21-BE4737EC4F8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6557" b="33660"/>
          <a:stretch>
            <a:fillRect/>
          </a:stretch>
        </p:blipFill>
        <p:spPr>
          <a:xfrm>
            <a:off x="10356391" y="3279310"/>
            <a:ext cx="800348" cy="7503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2" name="Picture 61" descr="What is Business Analytics? Definition, Aspects and Uses">
            <a:extLst>
              <a:ext uri="{FF2B5EF4-FFF2-40B4-BE49-F238E27FC236}">
                <a16:creationId xmlns:a16="http://schemas.microsoft.com/office/drawing/2014/main" id="{458E22E0-45C0-EE0F-E119-A1A618EFE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9711" y="4924204"/>
            <a:ext cx="1609267" cy="8360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9D6656FF-10A0-386E-34A2-0DE086853A85}"/>
              </a:ext>
            </a:extLst>
          </p:cNvPr>
          <p:cNvSpPr txBox="1"/>
          <p:nvPr/>
        </p:nvSpPr>
        <p:spPr>
          <a:xfrm>
            <a:off x="6168638" y="2141408"/>
            <a:ext cx="12462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>
                <a:latin typeface="Calibri"/>
                <a:ea typeface="Calibri"/>
                <a:cs typeface="Calibri"/>
              </a:rPr>
              <a:t>SNS Email Notification</a:t>
            </a:r>
            <a:endParaRPr lang="en-US" dirty="0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62FEF951-914F-8EEE-AF0E-04DE232FAF9A}"/>
              </a:ext>
            </a:extLst>
          </p:cNvPr>
          <p:cNvSpPr/>
          <p:nvPr/>
        </p:nvSpPr>
        <p:spPr>
          <a:xfrm rot="16200000">
            <a:off x="5640115" y="3060931"/>
            <a:ext cx="349154" cy="681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II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A26B34-CFDD-A967-3443-524F2CAB1C3B}"/>
              </a:ext>
            </a:extLst>
          </p:cNvPr>
          <p:cNvSpPr txBox="1"/>
          <p:nvPr/>
        </p:nvSpPr>
        <p:spPr>
          <a:xfrm>
            <a:off x="5799307" y="2928750"/>
            <a:ext cx="93459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Send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1392F6C-95F8-CE1E-1D5B-E2DCBC31497E}"/>
              </a:ext>
            </a:extLst>
          </p:cNvPr>
          <p:cNvSpPr txBox="1"/>
          <p:nvPr/>
        </p:nvSpPr>
        <p:spPr>
          <a:xfrm>
            <a:off x="4126968" y="3332929"/>
            <a:ext cx="14500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processed by</a:t>
            </a:r>
            <a:endParaRPr lang="en-US" dirty="0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9902C3E3-2D8B-363D-DC64-FFEECBE062A9}"/>
              </a:ext>
            </a:extLst>
          </p:cNvPr>
          <p:cNvSpPr/>
          <p:nvPr/>
        </p:nvSpPr>
        <p:spPr>
          <a:xfrm rot="5400000">
            <a:off x="10520578" y="4401329"/>
            <a:ext cx="474597" cy="732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69E37A1-45E9-7840-6180-46F6DEB1BEA2}"/>
              </a:ext>
            </a:extLst>
          </p:cNvPr>
          <p:cNvSpPr txBox="1"/>
          <p:nvPr/>
        </p:nvSpPr>
        <p:spPr>
          <a:xfrm>
            <a:off x="6205129" y="3360685"/>
            <a:ext cx="93459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writes enriched data</a:t>
            </a:r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AE0738C-313F-8D4E-384C-91E762D65543}"/>
              </a:ext>
            </a:extLst>
          </p:cNvPr>
          <p:cNvSpPr txBox="1"/>
          <p:nvPr/>
        </p:nvSpPr>
        <p:spPr>
          <a:xfrm>
            <a:off x="10867377" y="4351310"/>
            <a:ext cx="93459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analytics</a:t>
            </a:r>
            <a:endParaRPr 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7D27BE-CB08-0D2D-549E-DAFEF8607021}"/>
              </a:ext>
            </a:extLst>
          </p:cNvPr>
          <p:cNvSpPr txBox="1"/>
          <p:nvPr/>
        </p:nvSpPr>
        <p:spPr>
          <a:xfrm>
            <a:off x="10356391" y="2945140"/>
            <a:ext cx="93459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Athena</a:t>
            </a:r>
            <a:endParaRPr 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F009E56-658A-DA8B-6E68-D1921146E2A0}"/>
              </a:ext>
            </a:extLst>
          </p:cNvPr>
          <p:cNvSpPr txBox="1"/>
          <p:nvPr/>
        </p:nvSpPr>
        <p:spPr>
          <a:xfrm>
            <a:off x="8586442" y="2931244"/>
            <a:ext cx="122880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Glue Catalog</a:t>
            </a:r>
            <a:endParaRPr lang="en-US" dirty="0"/>
          </a:p>
        </p:txBody>
      </p:sp>
      <p:pic>
        <p:nvPicPr>
          <p:cNvPr id="3" name="Picture 2" descr="Data source Royalty Free Vector Image - VectorStock">
            <a:extLst>
              <a:ext uri="{FF2B5EF4-FFF2-40B4-BE49-F238E27FC236}">
                <a16:creationId xmlns:a16="http://schemas.microsoft.com/office/drawing/2014/main" id="{97D9FFAE-8DAA-5B5E-2589-C1BE699E999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170" t="7022" r="16635" b="22503"/>
          <a:stretch>
            <a:fillRect/>
          </a:stretch>
        </p:blipFill>
        <p:spPr>
          <a:xfrm>
            <a:off x="1324663" y="3481225"/>
            <a:ext cx="709690" cy="709386"/>
          </a:xfrm>
          <a:prstGeom prst="rect">
            <a:avLst/>
          </a:prstGeom>
        </p:spPr>
      </p:pic>
      <p:pic>
        <p:nvPicPr>
          <p:cNvPr id="4" name="Picture 3" descr="meet your new data lakehouse: S3 Iceberg Tables">
            <a:extLst>
              <a:ext uri="{FF2B5EF4-FFF2-40B4-BE49-F238E27FC236}">
                <a16:creationId xmlns:a16="http://schemas.microsoft.com/office/drawing/2014/main" id="{96C4C735-146E-F678-1EF2-3E0B0A0B36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4" t="31326" r="62993" b="4332"/>
          <a:stretch>
            <a:fillRect/>
          </a:stretch>
        </p:blipFill>
        <p:spPr>
          <a:xfrm>
            <a:off x="7180097" y="3309186"/>
            <a:ext cx="642252" cy="656657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4DA4DF-6947-6352-CA6F-1121C54BA71A}"/>
              </a:ext>
            </a:extLst>
          </p:cNvPr>
          <p:cNvSpPr txBox="1"/>
          <p:nvPr/>
        </p:nvSpPr>
        <p:spPr>
          <a:xfrm>
            <a:off x="6958856" y="2711822"/>
            <a:ext cx="1333496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S3 Iceberg</a:t>
            </a:r>
            <a:endParaRPr lang="en-US" dirty="0"/>
          </a:p>
          <a:p>
            <a:r>
              <a:rPr lang="en-US" sz="1400" dirty="0"/>
              <a:t>Warehouse</a:t>
            </a:r>
            <a:endParaRPr lang="en-US" dirty="0"/>
          </a:p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D322E5E-9806-ED44-888F-940E9B1E0BA8}"/>
              </a:ext>
            </a:extLst>
          </p:cNvPr>
          <p:cNvSpPr/>
          <p:nvPr/>
        </p:nvSpPr>
        <p:spPr>
          <a:xfrm>
            <a:off x="9654865" y="3580105"/>
            <a:ext cx="600727" cy="844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E6F23-D436-C6FD-9F64-FBFE3F831142}"/>
              </a:ext>
            </a:extLst>
          </p:cNvPr>
          <p:cNvSpPr txBox="1"/>
          <p:nvPr/>
        </p:nvSpPr>
        <p:spPr>
          <a:xfrm>
            <a:off x="6790765" y="4101353"/>
            <a:ext cx="228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aseline="0" dirty="0">
                <a:latin typeface="Segoe UI"/>
              </a:rPr>
              <a:t>s3://bank-app-lakehouse-iceberg/warehouse/</a:t>
            </a:r>
            <a:endParaRPr lang="en-US" sz="1100" dirty="0"/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EF219-45FB-5205-A72E-BD675C50526B}"/>
              </a:ext>
            </a:extLst>
          </p:cNvPr>
          <p:cNvSpPr txBox="1"/>
          <p:nvPr/>
        </p:nvSpPr>
        <p:spPr>
          <a:xfrm>
            <a:off x="8593214" y="4084114"/>
            <a:ext cx="122358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Calibri"/>
                <a:ea typeface="Calibri"/>
                <a:cs typeface="Calibri"/>
              </a:rPr>
              <a:t>analytics_db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36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711A4-1F43-9A3B-667C-95E449A4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73B6E8-36B9-C207-0065-A2401EA61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E2F057-0AEB-EB8F-1F6F-B8A9FE879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51143-A17C-81DB-3D57-8F74475D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279" y="789272"/>
            <a:ext cx="9947550" cy="678261"/>
          </a:xfrm>
        </p:spPr>
        <p:txBody>
          <a:bodyPr>
            <a:normAutofit/>
          </a:bodyPr>
          <a:lstStyle/>
          <a:p>
            <a:r>
              <a:rPr lang="en-US" sz="4000"/>
              <a:t>Data Sets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517376-FE63-297E-2D9A-5E80810A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7B96D6-DD4F-E2CA-2A1D-285E43C4CFCF}"/>
              </a:ext>
            </a:extLst>
          </p:cNvPr>
          <p:cNvSpPr txBox="1"/>
          <p:nvPr/>
        </p:nvSpPr>
        <p:spPr>
          <a:xfrm>
            <a:off x="566928" y="2412044"/>
            <a:ext cx="11161462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customers.csv</a:t>
            </a:r>
          </a:p>
          <a:p>
            <a:pPr marL="1428750" lvl="2" indent="-514350">
              <a:buFont typeface="Wingdings"/>
              <a:buChar char="§"/>
            </a:pPr>
            <a:r>
              <a:rPr lang="en-US" sz="2800" dirty="0" err="1">
                <a:ea typeface="+mn-lt"/>
                <a:cs typeface="+mn-lt"/>
              </a:rPr>
              <a:t>customer_id</a:t>
            </a:r>
            <a:r>
              <a:rPr lang="en-US" sz="2800" dirty="0">
                <a:ea typeface="+mn-lt"/>
                <a:cs typeface="+mn-lt"/>
              </a:rPr>
              <a:t>, name, email, country</a:t>
            </a:r>
            <a:endParaRPr lang="en-US" sz="2800" dirty="0"/>
          </a:p>
          <a:p>
            <a:pPr marL="1428750" lvl="2" indent="-514350">
              <a:buFont typeface="Wingdings"/>
              <a:buChar char="§"/>
            </a:pPr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/>
              <a:t>accounts.csv</a:t>
            </a:r>
          </a:p>
          <a:p>
            <a:pPr marL="1428750" lvl="2" indent="-514350">
              <a:buFont typeface="Wingdings"/>
              <a:buChar char="§"/>
            </a:pPr>
            <a:r>
              <a:rPr lang="en-US" sz="2800" dirty="0" err="1">
                <a:ea typeface="+mn-lt"/>
                <a:cs typeface="+mn-lt"/>
              </a:rPr>
              <a:t>account_id,customer_id,account_type,balance</a:t>
            </a:r>
            <a:endParaRPr lang="en-US" sz="2800" dirty="0" err="1"/>
          </a:p>
          <a:p>
            <a:pPr marL="1428750" lvl="2" indent="-514350">
              <a:buFont typeface="Wingdings"/>
              <a:buChar char="§"/>
            </a:pPr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/>
              <a:t>Transactions.csv</a:t>
            </a:r>
          </a:p>
          <a:p>
            <a:pPr marL="1428750" lvl="2" indent="-514350">
              <a:buFont typeface="Wingdings"/>
              <a:buChar char="§"/>
            </a:pPr>
            <a:r>
              <a:rPr lang="en-US" sz="2800" dirty="0" err="1">
                <a:ea typeface="+mn-lt"/>
                <a:cs typeface="+mn-lt"/>
              </a:rPr>
              <a:t>txn_id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dirty="0" err="1">
                <a:ea typeface="+mn-lt"/>
                <a:cs typeface="+mn-lt"/>
              </a:rPr>
              <a:t>account_id</a:t>
            </a:r>
            <a:r>
              <a:rPr lang="en-US" sz="2800" dirty="0">
                <a:ea typeface="+mn-lt"/>
                <a:cs typeface="+mn-lt"/>
              </a:rPr>
              <a:t>, amount, </a:t>
            </a:r>
            <a:r>
              <a:rPr lang="en-US" sz="2800" dirty="0" err="1">
                <a:ea typeface="+mn-lt"/>
                <a:cs typeface="+mn-lt"/>
              </a:rPr>
              <a:t>txn_type</a:t>
            </a:r>
            <a:r>
              <a:rPr lang="en-US" sz="2800" dirty="0">
                <a:ea typeface="+mn-lt"/>
                <a:cs typeface="+mn-lt"/>
              </a:rPr>
              <a:t>, timestamp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985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A5A6F1-B075-4B1F-5055-1AFFCE2B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479B944-104C-30A6-D66A-C8F62276E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328A2DF-873A-7FAC-0AF0-649287DBE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A2306AF-B0E2-0A0E-BB8C-F35A06998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633345-4010-0662-8D15-0D2CF921D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S3 Bucket Structure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B165CC-7C88-D756-B037-074B0C4F1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5BC4B-E04C-4F7A-1C0C-19A8DE256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37" y="2010706"/>
            <a:ext cx="10960206" cy="4176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 sz="4800" dirty="0"/>
          </a:p>
          <a:p>
            <a:pPr marL="0" indent="0" algn="just">
              <a:buNone/>
            </a:pPr>
            <a:endParaRPr lang="en-IN" dirty="0">
              <a:latin typeface="Segoe UI"/>
              <a:cs typeface="Segoe UI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7F99C-640A-7EA3-044B-C7B4BD8A4123}"/>
              </a:ext>
            </a:extLst>
          </p:cNvPr>
          <p:cNvSpPr txBox="1"/>
          <p:nvPr/>
        </p:nvSpPr>
        <p:spPr>
          <a:xfrm>
            <a:off x="809182" y="2305463"/>
            <a:ext cx="5043052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Segoe UI"/>
                <a:cs typeface="Segoe UI"/>
              </a:rPr>
              <a:t>Raw Data - S3 Bronze Data Bucket: </a:t>
            </a:r>
          </a:p>
          <a:p>
            <a:endParaRPr lang="en-US" dirty="0">
              <a:latin typeface="Segoe UI"/>
              <a:cs typeface="Segoe UI"/>
            </a:endParaRPr>
          </a:p>
          <a:p>
            <a:r>
              <a:rPr lang="en-US" dirty="0">
                <a:latin typeface="Segoe UI"/>
                <a:cs typeface="Segoe UI"/>
              </a:rPr>
              <a:t>s3://bank-app-data-landing-area/raw/
 ├── customers/
 │    └── </a:t>
            </a:r>
            <a:r>
              <a:rPr lang="en-US" dirty="0" err="1">
                <a:latin typeface="Segoe UI"/>
                <a:cs typeface="Segoe UI"/>
              </a:rPr>
              <a:t>yyyy</a:t>
            </a:r>
            <a:r>
              <a:rPr lang="en-US" dirty="0">
                <a:latin typeface="Segoe UI"/>
                <a:cs typeface="Segoe UI"/>
              </a:rPr>
              <a:t>-mm-dd/
 │         └── customers.csv
 ├── accounts/
 │    └── </a:t>
            </a:r>
            <a:r>
              <a:rPr lang="en-US" dirty="0" err="1">
                <a:latin typeface="Segoe UI"/>
                <a:cs typeface="Segoe UI"/>
              </a:rPr>
              <a:t>yyyy</a:t>
            </a:r>
            <a:r>
              <a:rPr lang="en-US" dirty="0">
                <a:latin typeface="Segoe UI"/>
                <a:cs typeface="Segoe UI"/>
              </a:rPr>
              <a:t>-mm-dd/
 │         └── accounts.csv
 └── transactions/
      └── </a:t>
            </a:r>
            <a:r>
              <a:rPr lang="en-US" dirty="0" err="1">
                <a:latin typeface="Segoe UI"/>
                <a:cs typeface="Segoe UI"/>
              </a:rPr>
              <a:t>yyyy</a:t>
            </a:r>
            <a:r>
              <a:rPr lang="en-US" dirty="0">
                <a:latin typeface="Segoe UI"/>
                <a:cs typeface="Segoe UI"/>
              </a:rPr>
              <a:t>-mm-dd/
           └── transactions.csv</a:t>
            </a:r>
            <a:endParaRPr lang="en-US">
              <a:latin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latin typeface="Segoe UI"/>
              <a:cs typeface="Segoe UI"/>
            </a:endParaRPr>
          </a:p>
          <a:p>
            <a:pPr algn="ctr"/>
            <a:endParaRPr lang="en-US" dirty="0"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23E0CD-A102-4557-D7C4-96F3F93D0F38}"/>
              </a:ext>
            </a:extLst>
          </p:cNvPr>
          <p:cNvSpPr txBox="1"/>
          <p:nvPr/>
        </p:nvSpPr>
        <p:spPr>
          <a:xfrm>
            <a:off x="6096000" y="2308411"/>
            <a:ext cx="608479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Segoe UI"/>
                <a:cs typeface="Segoe UI"/>
              </a:rPr>
              <a:t>Iceberg Warehouse – S3 Curated Data Bucket:</a:t>
            </a:r>
            <a:endParaRPr lang="en-US" dirty="0"/>
          </a:p>
          <a:p>
            <a:endParaRPr lang="en-US" dirty="0">
              <a:latin typeface="Segoe UI"/>
              <a:cs typeface="Segoe UI"/>
            </a:endParaRPr>
          </a:p>
          <a:p>
            <a:r>
              <a:rPr lang="en-US" dirty="0">
                <a:latin typeface="Segoe UI"/>
                <a:cs typeface="Segoe UI"/>
              </a:rPr>
              <a:t>s3://bank-app-lakehouse-iceberg/warehouse/</a:t>
            </a:r>
          </a:p>
          <a:p>
            <a:r>
              <a:rPr lang="en-US" dirty="0">
                <a:latin typeface="Segoe UI"/>
                <a:cs typeface="Segoe UI"/>
              </a:rPr>
              <a:t>   └── </a:t>
            </a:r>
            <a:r>
              <a:rPr lang="en-US" err="1">
                <a:latin typeface="Segoe UI"/>
                <a:cs typeface="Segoe UI"/>
              </a:rPr>
              <a:t>analytics_db.db</a:t>
            </a:r>
            <a:r>
              <a:rPr lang="en-US" dirty="0">
                <a:latin typeface="Segoe UI"/>
                <a:cs typeface="Segoe UI"/>
              </a:rPr>
              <a:t>/</a:t>
            </a:r>
          </a:p>
          <a:p>
            <a:r>
              <a:rPr lang="en-US" dirty="0">
                <a:latin typeface="Segoe UI"/>
                <a:cs typeface="Segoe UI"/>
              </a:rPr>
              <a:t>                └── </a:t>
            </a:r>
            <a:r>
              <a:rPr lang="en-US" err="1">
                <a:latin typeface="Segoe UI"/>
                <a:cs typeface="Segoe UI"/>
              </a:rPr>
              <a:t>enriched_transactions</a:t>
            </a:r>
            <a:r>
              <a:rPr lang="en-US" dirty="0">
                <a:latin typeface="Segoe UI"/>
                <a:cs typeface="Segoe UI"/>
              </a:rPr>
              <a:t>/</a:t>
            </a:r>
            <a:endParaRPr lang="en-US"/>
          </a:p>
          <a:p>
            <a:r>
              <a:rPr lang="en-US" dirty="0">
                <a:latin typeface="Segoe UI"/>
                <a:cs typeface="Segoe UI"/>
              </a:rPr>
              <a:t>                           ├── data/</a:t>
            </a:r>
          </a:p>
          <a:p>
            <a:r>
              <a:rPr lang="en-US" dirty="0">
                <a:latin typeface="Segoe UI"/>
              </a:rPr>
              <a:t>                           └── metadata/</a:t>
            </a:r>
            <a:endParaRPr lang="en-US" dirty="0">
              <a:latin typeface="Segoe UI"/>
              <a:cs typeface="Segoe UI"/>
            </a:endParaRPr>
          </a:p>
          <a:p>
            <a:endParaRPr lang="en-US"/>
          </a:p>
          <a:p>
            <a:endParaRPr lang="en-US" dirty="0">
              <a:latin typeface="Aptos" panose="020B0004020202020204"/>
            </a:endParaRPr>
          </a:p>
          <a:p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45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7F2060-C81A-A1CF-F24C-62C9E11FE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39ED9E-1702-A609-DC2E-ED6A47596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4269F69-3587-AE54-AF3E-911F436A6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FAF5BA2-8DC2-42E6-4CCC-6B89AA2FC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67AE6-9F47-CC79-EC6A-BFA07D8BD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Glue Components – ETL Job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519C9D-531B-7EEB-4539-69ED05426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D7AE-32ED-8DD6-2419-AA4768428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37" y="2010706"/>
            <a:ext cx="10960206" cy="4176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 sz="4800" dirty="0"/>
          </a:p>
          <a:p>
            <a:pPr marL="0" indent="0" algn="just">
              <a:buNone/>
            </a:pPr>
            <a:endParaRPr lang="en-IN" dirty="0">
              <a:latin typeface="Segoe UI"/>
              <a:cs typeface="Segoe UI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33EF7-198B-49F3-0EE1-9FBCD325202D}"/>
              </a:ext>
            </a:extLst>
          </p:cNvPr>
          <p:cNvSpPr txBox="1"/>
          <p:nvPr/>
        </p:nvSpPr>
        <p:spPr>
          <a:xfrm>
            <a:off x="631657" y="2346158"/>
            <a:ext cx="11071226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/>
              <a:t>ETLBankAppAnalytics</a:t>
            </a:r>
            <a:endParaRPr lang="en-US" sz="2800" b="1"/>
          </a:p>
          <a:p>
            <a:endParaRPr lang="en-US" sz="16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Reads daily CSV files from S3 (Bronze layer). </a:t>
            </a:r>
          </a:p>
          <a:p>
            <a:pPr marL="342900" indent="-342900">
              <a:buFont typeface="Wingdings"/>
              <a:buChar char="§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Transforms and enriches the data. </a:t>
            </a:r>
          </a:p>
          <a:p>
            <a:pPr marL="342900" indent="-342900">
              <a:buFont typeface="Wingdings"/>
              <a:buChar char="§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Loads data incrementally into an Iceberg table (partitioned by </a:t>
            </a:r>
            <a:r>
              <a:rPr lang="en-US" sz="2000" err="1">
                <a:ea typeface="+mn-lt"/>
                <a:cs typeface="+mn-lt"/>
              </a:rPr>
              <a:t>txn_date</a:t>
            </a:r>
            <a:r>
              <a:rPr lang="en-US" sz="2000" dirty="0">
                <a:ea typeface="+mn-lt"/>
                <a:cs typeface="+mn-lt"/>
              </a:rPr>
              <a:t>). </a:t>
            </a:r>
            <a:endParaRPr lang="en-US" sz="200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endParaRPr lang="en-US" sz="20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r>
              <a:rPr lang="en-US" sz="2000" dirty="0">
                <a:ea typeface="+mn-lt"/>
                <a:cs typeface="+mn-lt"/>
              </a:rPr>
              <a:t>Sends SNS email alerts on START, SUCCESS, and FAILURE</a:t>
            </a:r>
            <a:endParaRPr lang="en-US" sz="2000"/>
          </a:p>
          <a:p>
            <a:pPr marL="1200150" lvl="2" indent="-285750">
              <a:buFont typeface="Wingdings"/>
              <a:buChar char="§"/>
            </a:pPr>
            <a:endParaRPr lang="en-US" sz="24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167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FDBAE-3DEB-06FE-C5D5-AF2935A7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72E0083-49C0-858B-2137-E9C8FED94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88A32AC-499F-6304-000F-02045FC6B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1B029F2-7E5A-F10F-28BE-49FA6AE0E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283478-C91B-C262-C542-A2D044A5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Glue Components – Catalog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F4C5D8-53A0-F061-3740-9A819D3B6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4A069-D1DB-01DA-CFF6-F93430700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37" y="2010706"/>
            <a:ext cx="10960206" cy="4176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 sz="4800" dirty="0"/>
          </a:p>
          <a:p>
            <a:pPr marL="0" indent="0" algn="just">
              <a:buNone/>
            </a:pPr>
            <a:endParaRPr lang="en-IN" dirty="0">
              <a:latin typeface="Segoe UI"/>
              <a:cs typeface="Segoe UI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9DA260-BDB7-BA42-2FE4-9B0FE232B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28" y="2940878"/>
            <a:ext cx="9099178" cy="37665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2AACF-CD84-498B-B7C8-37C513E55D9D}"/>
              </a:ext>
            </a:extLst>
          </p:cNvPr>
          <p:cNvSpPr txBox="1"/>
          <p:nvPr/>
        </p:nvSpPr>
        <p:spPr>
          <a:xfrm>
            <a:off x="575629" y="2357364"/>
            <a:ext cx="8841253" cy="1745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/>
              <a:t>enriched_transactions</a:t>
            </a:r>
            <a:r>
              <a:rPr lang="en-US" sz="2800" b="1" dirty="0"/>
              <a:t> : Iceberg Table (</a:t>
            </a:r>
            <a:r>
              <a:rPr lang="en-US" sz="2800" b="1" dirty="0" err="1"/>
              <a:t>analytics_db</a:t>
            </a:r>
            <a:r>
              <a:rPr lang="en-US" sz="2800" b="1" dirty="0"/>
              <a:t>)</a:t>
            </a:r>
          </a:p>
          <a:p>
            <a:endParaRPr lang="en-US" sz="1600" dirty="0">
              <a:ea typeface="+mn-lt"/>
              <a:cs typeface="+mn-lt"/>
            </a:endParaRPr>
          </a:p>
          <a:p>
            <a:pPr marL="342900" indent="-342900">
              <a:buFont typeface="Wingdings"/>
              <a:buChar char="§"/>
            </a:pPr>
            <a:endParaRPr lang="en-US" sz="2000" dirty="0"/>
          </a:p>
          <a:p>
            <a:pPr marL="1200150" lvl="2" indent="-285750">
              <a:buFont typeface="Wingdings"/>
              <a:buChar char="§"/>
            </a:pPr>
            <a:endParaRPr lang="en-US" sz="2400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432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5B3AD-22BB-4A45-0535-CB680181F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786FEE-9803-4E99-1621-2BFE68DA3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F976D6-415F-6DBB-CE60-F4270DEF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DCB8F91-6EF6-2126-94B2-458C825EB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4B287-5C32-6243-C9E5-82D5482E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Business Analytics - SQL Queries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24A8C2-7F87-85E8-8A7C-6D539EA8C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EB51-388D-E351-6D70-BEFB4A5F3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37" y="2010706"/>
            <a:ext cx="10960206" cy="4176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 sz="4800" dirty="0"/>
          </a:p>
          <a:p>
            <a:pPr marL="0" indent="0" algn="just">
              <a:buNone/>
            </a:pPr>
            <a:endParaRPr lang="en-IN" dirty="0">
              <a:latin typeface="Segoe UI"/>
              <a:cs typeface="Segoe UI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EE56A5-7C88-3D8E-4007-32B37D51BC25}"/>
              </a:ext>
            </a:extLst>
          </p:cNvPr>
          <p:cNvSpPr txBox="1"/>
          <p:nvPr/>
        </p:nvSpPr>
        <p:spPr>
          <a:xfrm>
            <a:off x="1115568" y="2672538"/>
            <a:ext cx="10723084" cy="29649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2" indent="-228600">
              <a:lnSpc>
                <a:spcPts val="1619"/>
              </a:lnSpc>
              <a:buFont typeface="Wingdings"/>
              <a:buChar char="•"/>
            </a:pPr>
            <a:r>
              <a:rPr lang="en-IN" sz="3200" dirty="0">
                <a:ea typeface="+mn-lt"/>
                <a:cs typeface="+mn-lt"/>
              </a:rPr>
              <a:t>Most/</a:t>
            </a:r>
            <a:r>
              <a:rPr lang="en-IN" sz="3200" dirty="0" err="1">
                <a:ea typeface="+mn-lt"/>
                <a:cs typeface="+mn-lt"/>
              </a:rPr>
              <a:t>Avg</a:t>
            </a:r>
            <a:r>
              <a:rPr lang="en-IN" sz="3200" dirty="0">
                <a:ea typeface="+mn-lt"/>
                <a:cs typeface="+mn-lt"/>
              </a:rPr>
              <a:t> Spending Customers by Transaction Value</a:t>
            </a:r>
            <a:endParaRPr lang="en-IN" sz="3200" dirty="0">
              <a:latin typeface="Aptos"/>
              <a:ea typeface="Source Sans 3"/>
              <a:cs typeface="Source Sans 3"/>
            </a:endParaRPr>
          </a:p>
          <a:p>
            <a:pPr marL="228600" lvl="2" indent="-228600">
              <a:lnSpc>
                <a:spcPts val="1619"/>
              </a:lnSpc>
              <a:buFont typeface="Wingdings"/>
              <a:buChar char="•"/>
            </a:pPr>
            <a:endParaRPr lang="en-IN" sz="3200" dirty="0">
              <a:latin typeface="Aptos"/>
              <a:ea typeface="Source Sans 3"/>
              <a:cs typeface="Source Sans 3"/>
            </a:endParaRPr>
          </a:p>
          <a:p>
            <a:pPr marL="228600" lvl="2" indent="-228600">
              <a:lnSpc>
                <a:spcPts val="1619"/>
              </a:lnSpc>
              <a:buFont typeface="Wingdings"/>
              <a:buChar char="•"/>
            </a:pPr>
            <a:endParaRPr lang="en-IN" sz="3200" dirty="0">
              <a:latin typeface="Aptos"/>
            </a:endParaRPr>
          </a:p>
          <a:p>
            <a:pPr marL="228600" lvl="2" indent="-228600">
              <a:lnSpc>
                <a:spcPts val="1619"/>
              </a:lnSpc>
              <a:buFont typeface="Wingdings"/>
              <a:buChar char="•"/>
            </a:pPr>
            <a:r>
              <a:rPr lang="en-IN" sz="3200" dirty="0">
                <a:latin typeface="Aptos"/>
              </a:rPr>
              <a:t>Fraud Detection &amp; Alerts</a:t>
            </a:r>
            <a:endParaRPr sz="3200" dirty="0">
              <a:latin typeface="Aptos"/>
            </a:endParaRPr>
          </a:p>
          <a:p>
            <a:pPr marL="228600" lvl="2" indent="-228600">
              <a:lnSpc>
                <a:spcPts val="1619"/>
              </a:lnSpc>
              <a:buFont typeface="Wingdings"/>
              <a:buChar char="•"/>
            </a:pPr>
            <a:endParaRPr lang="en-IN" sz="3200" dirty="0">
              <a:latin typeface="Aptos"/>
              <a:ea typeface="Source Sans 3"/>
              <a:cs typeface="Source Sans 3"/>
            </a:endParaRPr>
          </a:p>
          <a:p>
            <a:pPr marL="228600" lvl="2" indent="-228600">
              <a:lnSpc>
                <a:spcPts val="1619"/>
              </a:lnSpc>
              <a:buFont typeface="Wingdings"/>
              <a:buChar char="•"/>
            </a:pPr>
            <a:endParaRPr lang="en-IN" sz="3200" dirty="0">
              <a:latin typeface="Aptos"/>
              <a:ea typeface="Source Sans 3"/>
              <a:cs typeface="Source Sans 3"/>
            </a:endParaRPr>
          </a:p>
          <a:p>
            <a:pPr marL="228600" lvl="2" indent="-228600">
              <a:lnSpc>
                <a:spcPts val="1619"/>
              </a:lnSpc>
              <a:buFont typeface="Wingdings"/>
              <a:buChar char="•"/>
            </a:pPr>
            <a:r>
              <a:rPr lang="en-IN" sz="3200" dirty="0">
                <a:latin typeface="Aptos"/>
                <a:ea typeface="Source Sans 3"/>
                <a:cs typeface="Source Sans 3"/>
              </a:rPr>
              <a:t>Find Inactive Customers</a:t>
            </a:r>
          </a:p>
          <a:p>
            <a:pPr marL="228600" lvl="2" indent="-228600">
              <a:lnSpc>
                <a:spcPts val="1619"/>
              </a:lnSpc>
              <a:buFont typeface="Wingdings"/>
              <a:buChar char="•"/>
            </a:pPr>
            <a:endParaRPr lang="en-IN" sz="3200" dirty="0">
              <a:latin typeface="Aptos"/>
              <a:ea typeface="Source Sans 3"/>
              <a:cs typeface="Source Sans 3"/>
            </a:endParaRPr>
          </a:p>
          <a:p>
            <a:pPr marL="228600" lvl="2" indent="-228600" rtl="0">
              <a:lnSpc>
                <a:spcPts val="1619"/>
              </a:lnSpc>
              <a:buFont typeface="Wingdings"/>
              <a:buChar char="•"/>
            </a:pPr>
            <a:endParaRPr lang="en-IN" sz="3200" dirty="0">
              <a:latin typeface="Aptos"/>
              <a:ea typeface="Source Sans 3"/>
              <a:cs typeface="Source Sans 3"/>
            </a:endParaRPr>
          </a:p>
          <a:p>
            <a:pPr marL="0" lvl="2">
              <a:lnSpc>
                <a:spcPts val="1619"/>
              </a:lnSpc>
            </a:pPr>
            <a:endParaRPr lang="en-IN" sz="3200" dirty="0">
              <a:latin typeface="Aptos"/>
              <a:ea typeface="Source Sans 3"/>
              <a:cs typeface="Source Sans 3"/>
            </a:endParaRPr>
          </a:p>
          <a:p>
            <a:pPr marL="228600" lvl="2" indent="-228600">
              <a:lnSpc>
                <a:spcPts val="1619"/>
              </a:lnSpc>
              <a:buFont typeface="Wingdings"/>
              <a:buChar char="•"/>
            </a:pPr>
            <a:endParaRPr lang="en-IN" sz="3200" dirty="0"/>
          </a:p>
          <a:p>
            <a:pPr algn="ctr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5442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2AE86-CF62-5BB4-CE0A-F386869D3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DBE62E-4360-D531-AC45-80CF505F9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D73590-A8AE-137E-5B89-AA4824273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CB8DBF0-D2E2-07D3-06A4-C81E0E533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3326F-8607-D3C4-0F4F-BCD7FFECA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SQL Queries</a:t>
            </a:r>
            <a:r>
              <a:rPr lang="en-US" sz="4000" dirty="0">
                <a:latin typeface="Aptos Display"/>
              </a:rPr>
              <a:t>: </a:t>
            </a:r>
            <a:r>
              <a:rPr lang="en-IN" sz="3200" dirty="0">
                <a:latin typeface="Aptos"/>
              </a:rPr>
              <a:t>Most/</a:t>
            </a:r>
            <a:r>
              <a:rPr lang="en-IN" sz="3200" dirty="0" err="1">
                <a:latin typeface="Aptos"/>
              </a:rPr>
              <a:t>Avg</a:t>
            </a:r>
            <a:r>
              <a:rPr lang="en-IN" sz="3200" dirty="0">
                <a:latin typeface="Aptos"/>
              </a:rPr>
              <a:t> Spending Customers by Transaction Value</a:t>
            </a:r>
            <a:endParaRPr lang="en-US" sz="3200" dirty="0">
              <a:latin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10D67E-63A2-2C31-750E-D26D2B3AE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4A145-84C8-4E9E-2825-8CCB6ADB4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37" y="2010706"/>
            <a:ext cx="10960206" cy="4176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 sz="4800" dirty="0"/>
          </a:p>
          <a:p>
            <a:pPr marL="0" indent="0" algn="just">
              <a:buNone/>
            </a:pPr>
            <a:endParaRPr lang="en-IN" dirty="0">
              <a:latin typeface="Segoe UI"/>
              <a:cs typeface="Segoe UI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F87C8-D4F5-6880-9ADA-D179852171A6}"/>
              </a:ext>
            </a:extLst>
          </p:cNvPr>
          <p:cNvSpPr txBox="1"/>
          <p:nvPr/>
        </p:nvSpPr>
        <p:spPr>
          <a:xfrm>
            <a:off x="568259" y="2071604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SELECT</a:t>
            </a:r>
            <a:endParaRPr lang="en-US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    </a:t>
            </a:r>
            <a:r>
              <a:rPr lang="en-US" sz="1400" dirty="0" err="1">
                <a:ea typeface="+mn-lt"/>
                <a:cs typeface="+mn-lt"/>
              </a:rPr>
              <a:t>customer_id</a:t>
            </a:r>
            <a:r>
              <a:rPr lang="en-US" sz="1400" dirty="0">
                <a:ea typeface="+mn-lt"/>
                <a:cs typeface="+mn-lt"/>
              </a:rPr>
              <a:t>,</a:t>
            </a:r>
            <a:endParaRPr lang="en-US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    COUNT(*)    AS </a:t>
            </a:r>
            <a:r>
              <a:rPr lang="en-US" sz="1400" dirty="0" err="1">
                <a:ea typeface="+mn-lt"/>
                <a:cs typeface="+mn-lt"/>
              </a:rPr>
              <a:t>txn_count</a:t>
            </a:r>
            <a:r>
              <a:rPr lang="en-US" sz="1400" dirty="0">
                <a:ea typeface="+mn-lt"/>
                <a:cs typeface="+mn-lt"/>
              </a:rPr>
              <a:t>,</a:t>
            </a:r>
            <a:endParaRPr lang="en-US" dirty="0"/>
          </a:p>
          <a:p>
            <a:r>
              <a:rPr lang="en-US" sz="1400" dirty="0">
                <a:ea typeface="+mn-lt"/>
                <a:cs typeface="+mn-lt"/>
              </a:rPr>
              <a:t>    SUM(amount) AS </a:t>
            </a:r>
            <a:r>
              <a:rPr lang="en-US" sz="1400" dirty="0" err="1">
                <a:ea typeface="+mn-lt"/>
                <a:cs typeface="+mn-lt"/>
              </a:rPr>
              <a:t>total_spent</a:t>
            </a:r>
            <a:endParaRPr lang="en-US" dirty="0" err="1"/>
          </a:p>
          <a:p>
            <a:r>
              <a:rPr lang="en-US" sz="1400" dirty="0">
                <a:ea typeface="+mn-lt"/>
                <a:cs typeface="+mn-lt"/>
              </a:rPr>
              <a:t>FROM </a:t>
            </a:r>
            <a:r>
              <a:rPr lang="en-US" sz="1400" dirty="0" err="1">
                <a:ea typeface="+mn-lt"/>
                <a:cs typeface="+mn-lt"/>
              </a:rPr>
              <a:t>analytics_db.enriched_transactions</a:t>
            </a:r>
            <a:endParaRPr lang="en-US" dirty="0" err="1"/>
          </a:p>
          <a:p>
            <a:r>
              <a:rPr lang="en-US" sz="1400" dirty="0">
                <a:ea typeface="+mn-lt"/>
                <a:cs typeface="+mn-lt"/>
              </a:rPr>
              <a:t>GROUP BY </a:t>
            </a:r>
            <a:r>
              <a:rPr lang="en-US" sz="1400" dirty="0" err="1">
                <a:ea typeface="+mn-lt"/>
                <a:cs typeface="+mn-lt"/>
              </a:rPr>
              <a:t>customer_id</a:t>
            </a:r>
            <a:endParaRPr lang="en-US" dirty="0" err="1"/>
          </a:p>
          <a:p>
            <a:r>
              <a:rPr lang="en-US" sz="1400" dirty="0">
                <a:ea typeface="+mn-lt"/>
                <a:cs typeface="+mn-lt"/>
              </a:rPr>
              <a:t>ORDER BY </a:t>
            </a:r>
            <a:r>
              <a:rPr lang="en-US" sz="1400" dirty="0" err="1">
                <a:ea typeface="+mn-lt"/>
                <a:cs typeface="+mn-lt"/>
              </a:rPr>
              <a:t>total_spent</a:t>
            </a:r>
            <a:r>
              <a:rPr lang="en-US" sz="1400" dirty="0">
                <a:ea typeface="+mn-lt"/>
                <a:cs typeface="+mn-lt"/>
              </a:rPr>
              <a:t> DESC</a:t>
            </a:r>
            <a:endParaRPr lang="en-US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LIMIT 10;</a:t>
            </a:r>
            <a:endParaRPr lang="en-US" dirty="0"/>
          </a:p>
          <a:p>
            <a:endParaRPr lang="en-US" sz="14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13E0A5-2298-915B-7834-0835D9C1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386" y="2008374"/>
            <a:ext cx="5913346" cy="23706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F869E2-449C-787F-2D5F-082BEA647BA6}"/>
              </a:ext>
            </a:extLst>
          </p:cNvPr>
          <p:cNvSpPr txBox="1"/>
          <p:nvPr/>
        </p:nvSpPr>
        <p:spPr>
          <a:xfrm>
            <a:off x="501023" y="4290368"/>
            <a:ext cx="6096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SELECT</a:t>
            </a:r>
            <a:endParaRPr lang="en-US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    </a:t>
            </a:r>
            <a:r>
              <a:rPr lang="en-US" sz="1400" dirty="0" err="1">
                <a:ea typeface="+mn-lt"/>
                <a:cs typeface="+mn-lt"/>
              </a:rPr>
              <a:t>customer_id</a:t>
            </a:r>
            <a:r>
              <a:rPr lang="en-US" sz="1400" dirty="0">
                <a:ea typeface="+mn-lt"/>
                <a:cs typeface="+mn-lt"/>
              </a:rPr>
              <a:t>,</a:t>
            </a:r>
            <a:endParaRPr lang="en-US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    COUNT(*)    AS </a:t>
            </a:r>
            <a:r>
              <a:rPr lang="en-US" sz="1400" dirty="0" err="1">
                <a:ea typeface="+mn-lt"/>
                <a:cs typeface="+mn-lt"/>
              </a:rPr>
              <a:t>txn_count</a:t>
            </a:r>
            <a:r>
              <a:rPr lang="en-US" sz="1400" dirty="0">
                <a:ea typeface="+mn-lt"/>
                <a:cs typeface="+mn-lt"/>
              </a:rPr>
              <a:t>,</a:t>
            </a:r>
            <a:endParaRPr lang="en-US" dirty="0"/>
          </a:p>
          <a:p>
            <a:r>
              <a:rPr lang="en-US" sz="1400" dirty="0">
                <a:ea typeface="+mn-lt"/>
                <a:cs typeface="+mn-lt"/>
              </a:rPr>
              <a:t>    SUM(amount) AS </a:t>
            </a:r>
            <a:r>
              <a:rPr lang="en-US" sz="1400" dirty="0" err="1">
                <a:ea typeface="+mn-lt"/>
                <a:cs typeface="+mn-lt"/>
              </a:rPr>
              <a:t>avg_spent</a:t>
            </a:r>
            <a:endParaRPr lang="en-US" dirty="0" err="1"/>
          </a:p>
          <a:p>
            <a:r>
              <a:rPr lang="en-US" sz="1400" dirty="0">
                <a:ea typeface="+mn-lt"/>
                <a:cs typeface="+mn-lt"/>
              </a:rPr>
              <a:t>FROM </a:t>
            </a:r>
            <a:r>
              <a:rPr lang="en-US" sz="1400" dirty="0" err="1">
                <a:ea typeface="+mn-lt"/>
                <a:cs typeface="+mn-lt"/>
              </a:rPr>
              <a:t>analytics_db.enriched_transactions</a:t>
            </a:r>
            <a:endParaRPr lang="en-US" dirty="0" err="1"/>
          </a:p>
          <a:p>
            <a:r>
              <a:rPr lang="en-US" sz="1400" dirty="0">
                <a:ea typeface="+mn-lt"/>
                <a:cs typeface="+mn-lt"/>
              </a:rPr>
              <a:t>GROUP BY </a:t>
            </a:r>
            <a:r>
              <a:rPr lang="en-US" sz="1400" dirty="0" err="1">
                <a:ea typeface="+mn-lt"/>
                <a:cs typeface="+mn-lt"/>
              </a:rPr>
              <a:t>customer_id</a:t>
            </a:r>
            <a:endParaRPr lang="en-US" dirty="0" err="1"/>
          </a:p>
          <a:p>
            <a:r>
              <a:rPr lang="en-US" sz="1400" dirty="0">
                <a:ea typeface="+mn-lt"/>
                <a:cs typeface="+mn-lt"/>
              </a:rPr>
              <a:t>ORDER BY </a:t>
            </a:r>
            <a:r>
              <a:rPr lang="en-US" sz="1400" dirty="0" err="1">
                <a:ea typeface="+mn-lt"/>
                <a:cs typeface="+mn-lt"/>
              </a:rPr>
              <a:t>avg_spent</a:t>
            </a:r>
            <a:r>
              <a:rPr lang="en-US" sz="1400" dirty="0">
                <a:ea typeface="+mn-lt"/>
                <a:cs typeface="+mn-lt"/>
              </a:rPr>
              <a:t> DESC</a:t>
            </a:r>
            <a:endParaRPr lang="en-US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LIMIT 10;</a:t>
            </a:r>
            <a:endParaRPr lang="en-US" dirty="0"/>
          </a:p>
          <a:p>
            <a:endParaRPr lang="en-US" sz="1400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D4C509C-2C0D-D936-2947-AA1885942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695" y="4575081"/>
            <a:ext cx="6194052" cy="208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8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E5CCA-1D4D-8666-B885-3C18E93CE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B0C9A1-98C9-8FF4-4B35-838F2EBAA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38E15B-AEDA-8BBA-92DB-BC5E3D716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A69973D-2A2D-46CE-F4FC-7975E44D2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9B91A-A00A-23E5-15E3-D78C8EB5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939308" cy="1390732"/>
          </a:xfrm>
        </p:spPr>
        <p:txBody>
          <a:bodyPr>
            <a:normAutofit/>
          </a:bodyPr>
          <a:lstStyle/>
          <a:p>
            <a:pPr marL="228600" lvl="2" indent="-228600">
              <a:lnSpc>
                <a:spcPts val="1619"/>
              </a:lnSpc>
              <a:buFont typeface="Wingdings,Sans-Serif"/>
              <a:buChar char="•"/>
            </a:pPr>
            <a:r>
              <a:rPr lang="en-US" sz="4000" dirty="0"/>
              <a:t>SQL Queries: </a:t>
            </a:r>
            <a:r>
              <a:rPr lang="en-IN" sz="3200" dirty="0">
                <a:latin typeface="Aptos"/>
              </a:rPr>
              <a:t>Fraud Detection &amp; Alerts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212F61-A27A-061D-FFC3-065055D99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6A743-0BAF-97EB-52BA-F25E6CDF8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37" y="2010706"/>
            <a:ext cx="10960206" cy="4176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r>
              <a:rPr lang="en-US" sz="2400" dirty="0">
                <a:ea typeface="+mn-lt"/>
                <a:cs typeface="+mn-lt"/>
              </a:rPr>
              <a:t>Multiple Transactions Same Day (Burst Activity) - Suspicious accounts with high  no. of transactions activity in a same day.</a:t>
            </a:r>
          </a:p>
          <a:p>
            <a:pPr marL="0" indent="0" algn="just">
              <a:buNone/>
            </a:pPr>
            <a:endParaRPr lang="en-IN" dirty="0">
              <a:latin typeface="Segoe UI"/>
              <a:cs typeface="Segoe UI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9DFFF-0152-4ED2-E2CB-E456369A36A6}"/>
              </a:ext>
            </a:extLst>
          </p:cNvPr>
          <p:cNvSpPr txBox="1"/>
          <p:nvPr/>
        </p:nvSpPr>
        <p:spPr>
          <a:xfrm>
            <a:off x="758760" y="3080267"/>
            <a:ext cx="582976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SELECT</a:t>
            </a:r>
            <a:endParaRPr lang="en-US" dirty="0"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  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account_id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  <a:endParaRPr lang="en-US" dirty="0"/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  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txn_date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  <a:endParaRPr lang="en-US" dirty="0"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    COUNT(*) AS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txn_count</a:t>
            </a:r>
            <a:endParaRPr lang="en-US" dirty="0" err="1">
              <a:ea typeface="+mn-lt"/>
              <a:cs typeface="+mn-lt"/>
            </a:endParaRPr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FROM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analytics_db.enriched_transactions</a:t>
            </a:r>
            <a:endParaRPr lang="en-US" dirty="0" err="1"/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GROUP BY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account_id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txn_date</a:t>
            </a:r>
            <a:endParaRPr lang="en-US" dirty="0" err="1"/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HAVING COUNT(*) &gt; 20</a:t>
            </a:r>
            <a:endParaRPr lang="en-US" dirty="0"/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ORDER BY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txn_count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 DESC;</a:t>
            </a:r>
            <a:endParaRPr lang="en-US" dirty="0">
              <a:ea typeface="+mn-lt"/>
              <a:cs typeface="+mn-lt"/>
            </a:endParaRPr>
          </a:p>
          <a:p>
            <a:endParaRPr lang="en-US" sz="16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1FD4C0-16FC-221C-B5A3-F8F1D2633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970" y="3078734"/>
            <a:ext cx="6947648" cy="344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90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990A79-7B68-ABB3-B759-DF9B972A4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0C9DCD1-B981-773D-8ABF-C3796C998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80DE98-67A5-052D-3AF2-B6A77F42C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9E8B216-3B1C-5A55-7FDD-0F598F61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C517F-C923-4651-59FB-E14DBCCA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941" y="227315"/>
            <a:ext cx="11086199" cy="1565167"/>
          </a:xfrm>
        </p:spPr>
        <p:txBody>
          <a:bodyPr>
            <a:normAutofit/>
          </a:bodyPr>
          <a:lstStyle/>
          <a:p>
            <a:pPr lvl="2">
              <a:lnSpc>
                <a:spcPts val="1619"/>
              </a:lnSpc>
            </a:pPr>
            <a:r>
              <a:rPr lang="en-US" sz="4000" dirty="0"/>
              <a:t>SQL Queries: </a:t>
            </a:r>
            <a:r>
              <a:rPr lang="en-US" sz="3200" dirty="0"/>
              <a:t>Inactive customers</a:t>
            </a:r>
            <a:endParaRPr lang="en-US" sz="3200" dirty="0">
              <a:latin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816D61-49D3-B59E-FE54-7E8DFA8DE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2F208-477E-22B4-006F-EE9E9E446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37" y="2010706"/>
            <a:ext cx="10960206" cy="4176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 sz="4800" dirty="0"/>
          </a:p>
          <a:p>
            <a:pPr marL="0" indent="0" algn="just">
              <a:buNone/>
            </a:pPr>
            <a:endParaRPr lang="en-IN" dirty="0">
              <a:latin typeface="Segoe UI"/>
              <a:cs typeface="Segoe UI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1964C-4402-1ADD-8E43-9777E1A08EB3}"/>
              </a:ext>
            </a:extLst>
          </p:cNvPr>
          <p:cNvSpPr txBox="1"/>
          <p:nvPr/>
        </p:nvSpPr>
        <p:spPr>
          <a:xfrm>
            <a:off x="734457" y="2620786"/>
            <a:ext cx="6096000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SELECT DISTINCT </a:t>
            </a:r>
            <a:r>
              <a:rPr lang="en-US" sz="1400" dirty="0" err="1">
                <a:ea typeface="+mn-lt"/>
                <a:cs typeface="+mn-lt"/>
              </a:rPr>
              <a:t>customer_id</a:t>
            </a:r>
            <a:endParaRPr lang="en-US" dirty="0" err="1"/>
          </a:p>
          <a:p>
            <a:r>
              <a:rPr lang="en-US" sz="1400" dirty="0">
                <a:ea typeface="+mn-lt"/>
                <a:cs typeface="+mn-lt"/>
              </a:rPr>
              <a:t>FROM </a:t>
            </a:r>
            <a:r>
              <a:rPr lang="en-US" sz="1400" dirty="0" err="1">
                <a:ea typeface="+mn-lt"/>
                <a:cs typeface="+mn-lt"/>
              </a:rPr>
              <a:t>analytics_db.enriched_transactions</a:t>
            </a:r>
            <a:endParaRPr lang="en-US" dirty="0" err="1"/>
          </a:p>
          <a:p>
            <a:r>
              <a:rPr lang="en-US" sz="1400" dirty="0">
                <a:ea typeface="+mn-lt"/>
                <a:cs typeface="+mn-lt"/>
              </a:rPr>
              <a:t>GROUP BY </a:t>
            </a:r>
            <a:r>
              <a:rPr lang="en-US" sz="1400" dirty="0" err="1">
                <a:ea typeface="+mn-lt"/>
                <a:cs typeface="+mn-lt"/>
              </a:rPr>
              <a:t>customer_id</a:t>
            </a:r>
            <a:endParaRPr lang="en-US" dirty="0" err="1"/>
          </a:p>
          <a:p>
            <a:r>
              <a:rPr lang="en-US" sz="1400" dirty="0">
                <a:ea typeface="+mn-lt"/>
                <a:cs typeface="+mn-lt"/>
              </a:rPr>
              <a:t>HAVING MAX(</a:t>
            </a:r>
            <a:r>
              <a:rPr lang="en-US" sz="1400" dirty="0" err="1">
                <a:ea typeface="+mn-lt"/>
                <a:cs typeface="+mn-lt"/>
              </a:rPr>
              <a:t>txn_date</a:t>
            </a:r>
            <a:r>
              <a:rPr lang="en-US" sz="1400" dirty="0">
                <a:ea typeface="+mn-lt"/>
                <a:cs typeface="+mn-lt"/>
              </a:rPr>
              <a:t>) &lt; </a:t>
            </a:r>
            <a:r>
              <a:rPr lang="en-US" sz="1400" dirty="0" err="1">
                <a:ea typeface="+mn-lt"/>
                <a:cs typeface="+mn-lt"/>
              </a:rPr>
              <a:t>current_date</a:t>
            </a:r>
            <a:r>
              <a:rPr lang="en-US" sz="1400" dirty="0">
                <a:ea typeface="+mn-lt"/>
                <a:cs typeface="+mn-lt"/>
              </a:rPr>
              <a:t> - INTERVAL '30' DAY;</a:t>
            </a:r>
            <a:endParaRPr lang="en-US" dirty="0">
              <a:ea typeface="+mn-lt"/>
              <a:cs typeface="+mn-lt"/>
            </a:endParaRPr>
          </a:p>
          <a:p>
            <a:endParaRPr lang="en-US" sz="1400" dirty="0"/>
          </a:p>
        </p:txBody>
      </p:sp>
      <p:pic>
        <p:nvPicPr>
          <p:cNvPr id="6" name="Picture 5" descr="A screenshot of a login box&#10;&#10;AI-generated content may be incorrect.">
            <a:extLst>
              <a:ext uri="{FF2B5EF4-FFF2-40B4-BE49-F238E27FC236}">
                <a16:creationId xmlns:a16="http://schemas.microsoft.com/office/drawing/2014/main" id="{20740DB7-FF6D-D355-D2BB-CB12B66C8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43" y="4103034"/>
            <a:ext cx="8310843" cy="213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115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CEF456-CC68-FCE5-AB73-CE4ED7677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ABD485-D391-9FA4-9045-42DB5F877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504F35-AF08-5EB4-9501-AF3E1CCA7B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3E1DE12-8319-0328-CF57-48E976A8A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57A06-812C-63C2-62DE-4DBD1C428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README Section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497D2F-5F70-8197-8030-69B329E1A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8D3CD-BA11-CDA8-0C9D-A2DBD9455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37" y="2010706"/>
            <a:ext cx="10960206" cy="4176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 sz="4800" dirty="0"/>
          </a:p>
          <a:p>
            <a:pPr marL="0" indent="0" algn="just">
              <a:buNone/>
            </a:pPr>
            <a:endParaRPr lang="en-IN" dirty="0">
              <a:latin typeface="Segoe UI"/>
              <a:cs typeface="Segoe UI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09A6B8-046A-25C2-FBBD-5BA44A12E446}"/>
              </a:ext>
            </a:extLst>
          </p:cNvPr>
          <p:cNvSpPr txBox="1"/>
          <p:nvPr/>
        </p:nvSpPr>
        <p:spPr>
          <a:xfrm>
            <a:off x="562796" y="3018639"/>
            <a:ext cx="1190601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Git Hub link to </a:t>
            </a:r>
            <a:r>
              <a:rPr lang="en-US" sz="3600" dirty="0" err="1"/>
              <a:t>ReadME</a:t>
            </a:r>
            <a:r>
              <a:rPr lang="en-US" sz="3600" dirty="0"/>
              <a:t> section: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>
                <a:ea typeface="+mn-lt"/>
                <a:cs typeface="+mn-lt"/>
                <a:hlinkClick r:id="rId2"/>
              </a:rPr>
              <a:t>aws-project-analytics-in-banking/README.md at main · chgopikrishnamca/aws-project-analytics-in-banking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92688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602A1-ABD1-B0D5-5E9E-36DDEE28B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4EFFCB2-97D8-0C34-D331-7BE8D0133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C93EDE-A1BB-C093-C134-ED2755420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D49D108-3F1D-5045-C0A7-F0899C3F1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D70AA-6019-00B4-4BBE-0B514E3B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Thank you!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F4F628-EB90-7556-19D3-B24F158CC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5987B-00E5-5ECB-E1A0-43289B56C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937" y="2010706"/>
            <a:ext cx="10960206" cy="4176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§"/>
            </a:pPr>
            <a:endParaRPr lang="en-US" sz="4800" dirty="0"/>
          </a:p>
          <a:p>
            <a:pPr marL="0" indent="0" algn="just">
              <a:buNone/>
            </a:pPr>
            <a:endParaRPr lang="en-IN" dirty="0">
              <a:latin typeface="Segoe UI"/>
              <a:cs typeface="Segoe UI"/>
            </a:endParaRPr>
          </a:p>
          <a:p>
            <a:pPr>
              <a:buFont typeface="Wingdings" panose="020B0604020202020204" pitchFamily="34" charset="0"/>
              <a:buChar char="§"/>
            </a:pPr>
            <a:endParaRPr lang="en-US" sz="2200" dirty="0"/>
          </a:p>
        </p:txBody>
      </p:sp>
      <p:pic>
        <p:nvPicPr>
          <p:cNvPr id="4" name="Picture 3" descr="Icon of comments in editable style 6609860 Vector Art at Vecteezy">
            <a:extLst>
              <a:ext uri="{FF2B5EF4-FFF2-40B4-BE49-F238E27FC236}">
                <a16:creationId xmlns:a16="http://schemas.microsoft.com/office/drawing/2014/main" id="{C6B9B74B-2BE6-4B4C-28FD-50DF3AB1E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89" y="2763754"/>
            <a:ext cx="2957112" cy="29697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CDEB58-8573-AFB6-C3B9-1B72B2A86B19}"/>
              </a:ext>
            </a:extLst>
          </p:cNvPr>
          <p:cNvSpPr txBox="1"/>
          <p:nvPr/>
        </p:nvSpPr>
        <p:spPr>
          <a:xfrm>
            <a:off x="4776995" y="3607783"/>
            <a:ext cx="6837947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/>
              <a:t>Comments &amp; Suggestions ?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95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471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AWS Capstone mini-PROJECT:  Bank APPlication &amp; ANALYTICS </vt:lpstr>
      <vt:lpstr>Agenda</vt:lpstr>
      <vt:lpstr>Project Details</vt:lpstr>
      <vt:lpstr>Project Architecture &amp; Orchestration</vt:lpstr>
      <vt:lpstr>Data Sets</vt:lpstr>
      <vt:lpstr>S3 Bucket Structure</vt:lpstr>
      <vt:lpstr>Glue Components – ETL Job</vt:lpstr>
      <vt:lpstr>Glue Components – Catalog</vt:lpstr>
      <vt:lpstr>Business Analytics - SQL Queries</vt:lpstr>
      <vt:lpstr>SQL Queries: Most/Avg Spending Customers by Transaction Value</vt:lpstr>
      <vt:lpstr>SQL Queries: Fraud Detection &amp; Alerts</vt:lpstr>
      <vt:lpstr>SQL Queries: Inactive customers</vt:lpstr>
      <vt:lpstr>README Section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Gopikrishna Cherukuri</dc:creator>
  <cp:lastModifiedBy>Gopikrishna Cherukuri</cp:lastModifiedBy>
  <cp:revision>1686</cp:revision>
  <dcterms:created xsi:type="dcterms:W3CDTF">2013-07-15T20:26:40Z</dcterms:created>
  <dcterms:modified xsi:type="dcterms:W3CDTF">2026-01-30T10:56:03Z</dcterms:modified>
</cp:coreProperties>
</file>